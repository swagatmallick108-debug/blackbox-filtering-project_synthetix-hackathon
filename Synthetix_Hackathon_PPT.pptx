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59" r:id="rId6"/>
    <p:sldId id="263" r:id="rId7"/>
    <p:sldId id="268" r:id="rId8"/>
    <p:sldId id="269" r:id="rId9"/>
    <p:sldId id="270" r:id="rId10"/>
    <p:sldId id="271" r:id="rId11"/>
    <p:sldId id="274" r:id="rId12"/>
    <p:sldId id="272" r:id="rId13"/>
    <p:sldId id="273" r:id="rId14"/>
    <p:sldId id="260" r:id="rId15"/>
    <p:sldId id="26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51a1fb6e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51a1fb6e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2233" y="691975"/>
            <a:ext cx="10267500" cy="17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Analog Signal Conditioning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0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Robust Sensor Signal Extraction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0000" y="2592500"/>
            <a:ext cx="9129300" cy="1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8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Synthetix</a:t>
            </a:r>
            <a:r>
              <a:rPr lang="en-US" sz="2400" b="0" i="0" u="none" strike="noStrike" cap="none">
                <a:solidFill>
                  <a:srgbClr val="88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Hackathon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Category: Electrical</a:t>
            </a:r>
            <a:b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502083" y="3658350"/>
            <a:ext cx="9187800" cy="28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Digi Castro</a:t>
            </a:r>
            <a:b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 </a:t>
            </a:r>
            <a:b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Abhisek KR, 24BEC1028</a:t>
            </a:r>
            <a:b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Akash Nath, 24BEC1031                                            </a:t>
            </a:r>
            <a:b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Swagat Mallick, 24BEC1072</a:t>
            </a:r>
            <a:b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Vedant Pandey, 24BEC1119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3820" y="3658350"/>
            <a:ext cx="3357575" cy="307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81025"/>
            <a:ext cx="554069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Signal Challenge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81025" y="1228725"/>
            <a:ext cx="5276850" cy="1905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543175"/>
            <a:ext cx="5277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operate in electrically noisy environments where the input signal contains multiple overlapping interference components.</a:t>
            </a:r>
            <a:endParaRPr sz="1600"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3822338"/>
            <a:ext cx="5277000" cy="7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the sensor acts as a black-box source, we cannot alter it internally.</a:t>
            </a:r>
            <a:endParaRPr sz="1600"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751216"/>
            <a:ext cx="5277000" cy="7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1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Extract the usable signal reliably for downstream logic processing.</a:t>
            </a:r>
            <a:endParaRPr sz="1600"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9700" y="0"/>
            <a:ext cx="56222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62025" y="2471737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 Hz: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 frequency baseline drift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052762"/>
            <a:ext cx="10648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kHz: Usable Target Signal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690937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 kHz: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Structured square wave interference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4271962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 kHz: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High-frequency EMI transients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4852987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Broadband: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General white noise contamination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98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0908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290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100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8910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Composite Signal Characteristics</a:t>
            </a:r>
            <a:endParaRPr dirty="0"/>
          </a:p>
        </p:txBody>
      </p:sp>
      <p:sp>
        <p:nvSpPr>
          <p:cNvPr id="116" name="Google Shape;116;p15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12550" y="1323975"/>
            <a:ext cx="6379449" cy="553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962024" y="2047875"/>
            <a:ext cx="51339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 Amplifier: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Impedance matching from source.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962025" y="2628900"/>
            <a:ext cx="48958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Pass Butterworth Filter: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Removes 600Hz baseline drift.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962024" y="3777823"/>
            <a:ext cx="4895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Pass Filter: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Centers and extracts 6 kHz.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1019176" y="4533900"/>
            <a:ext cx="48958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Pass Butterworth Filter: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Suppresses 18kHz &amp; 55kHz EMI.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962024" y="5514975"/>
            <a:ext cx="4895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Gain: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Manual potentiometer tuning.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59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67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169" y="387307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691" y="462734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" y="56292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dirty="0"/>
          </a:p>
        </p:txBody>
      </p:sp>
      <p:sp>
        <p:nvSpPr>
          <p:cNvPr id="177" name="Google Shape;177;p19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Frequency | Definition, Symbols, &amp; Formulas | Britannica">
            <a:extLst>
              <a:ext uri="{FF2B5EF4-FFF2-40B4-BE49-F238E27FC236}">
                <a16:creationId xmlns:a16="http://schemas.microsoft.com/office/drawing/2014/main" xmlns="" id="{3EF89A73-FE92-BDC3-63D0-0B4FF70BD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31459" y="1649277"/>
            <a:ext cx="5510085" cy="462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81025" y="581025"/>
            <a:ext cx="11030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dirty="0"/>
          </a:p>
        </p:txBody>
      </p:sp>
      <p:sp>
        <p:nvSpPr>
          <p:cNvPr id="125" name="Google Shape;125;p16"/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F5B0AF-88DC-00BF-52D9-1DA6B3E065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0" t="22280" r="4000" b="42933"/>
          <a:stretch>
            <a:fillRect/>
          </a:stretch>
        </p:blipFill>
        <p:spPr>
          <a:xfrm>
            <a:off x="0" y="2442360"/>
            <a:ext cx="12192000" cy="2869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8;p17">
            <a:extLst>
              <a:ext uri="{FF2B5EF4-FFF2-40B4-BE49-F238E27FC236}">
                <a16:creationId xmlns:a16="http://schemas.microsoft.com/office/drawing/2014/main" xmlns="" id="{AA1738F4-11AA-FC49-DA47-F461A225BF8A}"/>
              </a:ext>
            </a:extLst>
          </p:cNvPr>
          <p:cNvSpPr txBox="1"/>
          <p:nvPr/>
        </p:nvSpPr>
        <p:spPr>
          <a:xfrm>
            <a:off x="581026" y="581025"/>
            <a:ext cx="110299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Calculations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E498672-CAC7-C482-F2E5-F2FAB9E71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" y="1482852"/>
            <a:ext cx="3983468" cy="5210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A616485-7B01-7699-5498-513D0FF63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482852"/>
            <a:ext cx="3730752" cy="5210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D5F1959-FF64-1C15-AE9C-62E99FD93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928" y="1463802"/>
            <a:ext cx="3630424" cy="52296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6" descr="image.png">
            <a:extLst>
              <a:ext uri="{FF2B5EF4-FFF2-40B4-BE49-F238E27FC236}">
                <a16:creationId xmlns:a16="http://schemas.microsoft.com/office/drawing/2014/main" xmlns="" id="{C18F4DC8-09A5-F4B5-BCD2-87C3B16443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16">
            <a:extLst>
              <a:ext uri="{FF2B5EF4-FFF2-40B4-BE49-F238E27FC236}">
                <a16:creationId xmlns:a16="http://schemas.microsoft.com/office/drawing/2014/main" xmlns="" id="{3E372258-59D5-3538-0796-9A899FBC6F9E}"/>
              </a:ext>
            </a:extLst>
          </p:cNvPr>
          <p:cNvSpPr txBox="1"/>
          <p:nvPr/>
        </p:nvSpPr>
        <p:spPr>
          <a:xfrm>
            <a:off x="581025" y="581025"/>
            <a:ext cx="11030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 Spice Schematic</a:t>
            </a:r>
            <a:endParaRPr dirty="0"/>
          </a:p>
        </p:txBody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xmlns="" id="{B4F4C5FF-327D-9FA2-5CE5-CAA725687F84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FD6EF35-70C3-AD1B-36DD-3B98B2023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0082"/>
            <a:ext cx="12192000" cy="51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8375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6" descr="image.png">
            <a:extLst>
              <a:ext uri="{FF2B5EF4-FFF2-40B4-BE49-F238E27FC236}">
                <a16:creationId xmlns:a16="http://schemas.microsoft.com/office/drawing/2014/main" xmlns="" id="{EB9FCC80-F0CC-B40D-694D-267338580E3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16">
            <a:extLst>
              <a:ext uri="{FF2B5EF4-FFF2-40B4-BE49-F238E27FC236}">
                <a16:creationId xmlns:a16="http://schemas.microsoft.com/office/drawing/2014/main" xmlns="" id="{EC893497-E5A9-55C6-1924-9A1DEF99F329}"/>
              </a:ext>
            </a:extLst>
          </p:cNvPr>
          <p:cNvSpPr txBox="1"/>
          <p:nvPr/>
        </p:nvSpPr>
        <p:spPr>
          <a:xfrm>
            <a:off x="581025" y="581025"/>
            <a:ext cx="110301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Output Graph (Transient Analysis)</a:t>
            </a:r>
            <a:endParaRPr dirty="0"/>
          </a:p>
        </p:txBody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xmlns="" id="{0A294CE6-6D21-119E-04ED-48201E567AB1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2972997-3EE2-DC91-933C-13EBC9554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1827897"/>
            <a:ext cx="11981688" cy="444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04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3;p16" descr="image.png">
            <a:extLst>
              <a:ext uri="{FF2B5EF4-FFF2-40B4-BE49-F238E27FC236}">
                <a16:creationId xmlns:a16="http://schemas.microsoft.com/office/drawing/2014/main" xmlns="" id="{A6FE7348-F680-616E-E4D2-448E28ED60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4;p16">
            <a:extLst>
              <a:ext uri="{FF2B5EF4-FFF2-40B4-BE49-F238E27FC236}">
                <a16:creationId xmlns:a16="http://schemas.microsoft.com/office/drawing/2014/main" xmlns="" id="{0A219F77-9B6E-013F-DD48-9360729FCDE9}"/>
              </a:ext>
            </a:extLst>
          </p:cNvPr>
          <p:cNvSpPr txBox="1"/>
          <p:nvPr/>
        </p:nvSpPr>
        <p:spPr>
          <a:xfrm>
            <a:off x="581025" y="581025"/>
            <a:ext cx="110301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FFT Analysis</a:t>
            </a:r>
            <a:endParaRPr dirty="0"/>
          </a:p>
        </p:txBody>
      </p:sp>
      <p:sp>
        <p:nvSpPr>
          <p:cNvPr id="5" name="Google Shape;125;p16">
            <a:extLst>
              <a:ext uri="{FF2B5EF4-FFF2-40B4-BE49-F238E27FC236}">
                <a16:creationId xmlns:a16="http://schemas.microsoft.com/office/drawing/2014/main" xmlns="" id="{D2B06BE0-41AA-64A4-621F-DA0E1C8C0981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4ADC63F-E55D-5E04-3F17-63CD024D0FBE}"/>
              </a:ext>
            </a:extLst>
          </p:cNvPr>
          <p:cNvSpPr txBox="1"/>
          <p:nvPr/>
        </p:nvSpPr>
        <p:spPr>
          <a:xfrm>
            <a:off x="4511992" y="1463389"/>
            <a:ext cx="3168015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FFT Graph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51A02E1-52C2-F5AB-6EB6-070FB8B06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619"/>
          <a:stretch>
            <a:fillRect/>
          </a:stretch>
        </p:blipFill>
        <p:spPr>
          <a:xfrm>
            <a:off x="0" y="2230336"/>
            <a:ext cx="12192000" cy="416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928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6" descr="image.png">
            <a:extLst>
              <a:ext uri="{FF2B5EF4-FFF2-40B4-BE49-F238E27FC236}">
                <a16:creationId xmlns:a16="http://schemas.microsoft.com/office/drawing/2014/main" xmlns="" id="{61AF0BD7-A47B-2058-367C-0F5E74619B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16">
            <a:extLst>
              <a:ext uri="{FF2B5EF4-FFF2-40B4-BE49-F238E27FC236}">
                <a16:creationId xmlns:a16="http://schemas.microsoft.com/office/drawing/2014/main" xmlns="" id="{E45D8A5D-6E44-7905-EBCB-DF0A10581F98}"/>
              </a:ext>
            </a:extLst>
          </p:cNvPr>
          <p:cNvSpPr txBox="1"/>
          <p:nvPr/>
        </p:nvSpPr>
        <p:spPr>
          <a:xfrm>
            <a:off x="581025" y="581025"/>
            <a:ext cx="110301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FFT Analysis</a:t>
            </a:r>
            <a:endParaRPr dirty="0"/>
          </a:p>
        </p:txBody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xmlns="" id="{1B33030A-DEAF-07D8-16E3-DDD3D7700852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570D37A-12AE-558A-C7A6-A837EA01F539}"/>
              </a:ext>
            </a:extLst>
          </p:cNvPr>
          <p:cNvSpPr txBox="1"/>
          <p:nvPr/>
        </p:nvSpPr>
        <p:spPr>
          <a:xfrm>
            <a:off x="4511992" y="1463389"/>
            <a:ext cx="3168015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FFT Graph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46AF00FC-D9BC-21BF-385C-087873DBC3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"/>
          <a:stretch>
            <a:fillRect/>
          </a:stretch>
        </p:blipFill>
        <p:spPr>
          <a:xfrm>
            <a:off x="274319" y="2229590"/>
            <a:ext cx="11795761" cy="462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521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6" descr="image.png">
            <a:extLst>
              <a:ext uri="{FF2B5EF4-FFF2-40B4-BE49-F238E27FC236}">
                <a16:creationId xmlns:a16="http://schemas.microsoft.com/office/drawing/2014/main" xmlns="" id="{61AF0BD7-A47B-2058-367C-0F5E74619B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16">
            <a:extLst>
              <a:ext uri="{FF2B5EF4-FFF2-40B4-BE49-F238E27FC236}">
                <a16:creationId xmlns:a16="http://schemas.microsoft.com/office/drawing/2014/main" xmlns="" id="{E45D8A5D-6E44-7905-EBCB-DF0A10581F98}"/>
              </a:ext>
            </a:extLst>
          </p:cNvPr>
          <p:cNvSpPr txBox="1"/>
          <p:nvPr/>
        </p:nvSpPr>
        <p:spPr>
          <a:xfrm>
            <a:off x="581025" y="581025"/>
            <a:ext cx="110301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Qualitative</a:t>
            </a:r>
            <a:r>
              <a:rPr lang="en-US" sz="3750" dirty="0" smtClean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Analysis</a:t>
            </a:r>
            <a:endParaRPr dirty="0"/>
          </a:p>
        </p:txBody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xmlns="" id="{1B33030A-DEAF-07D8-16E3-DDD3D7700852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9" name="Picture 5" descr="C:\Users\ABC\OneDrive\Desktop\WhatsApp Image 2026-03-06 at 11.26.09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0687" y="1317348"/>
            <a:ext cx="9520307" cy="5416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5521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6" descr="image.png">
            <a:extLst>
              <a:ext uri="{FF2B5EF4-FFF2-40B4-BE49-F238E27FC236}">
                <a16:creationId xmlns:a16="http://schemas.microsoft.com/office/drawing/2014/main" xmlns="" id="{7C8DB704-1E9D-4D4E-7CE9-62FB4C804A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16">
            <a:extLst>
              <a:ext uri="{FF2B5EF4-FFF2-40B4-BE49-F238E27FC236}">
                <a16:creationId xmlns:a16="http://schemas.microsoft.com/office/drawing/2014/main" xmlns="" id="{4B51C365-6066-E52A-3A5A-7E6F52522003}"/>
              </a:ext>
            </a:extLst>
          </p:cNvPr>
          <p:cNvSpPr txBox="1"/>
          <p:nvPr/>
        </p:nvSpPr>
        <p:spPr>
          <a:xfrm>
            <a:off x="581025" y="581025"/>
            <a:ext cx="110301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MATLAB Code</a:t>
            </a:r>
            <a:endParaRPr dirty="0"/>
          </a:p>
        </p:txBody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xmlns="" id="{4762854D-B885-95AD-00A2-883EB14EA779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B49F98E-AFE9-A785-1038-3CCF4A403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67" t="5877" r="51750"/>
          <a:stretch>
            <a:fillRect/>
          </a:stretch>
        </p:blipFill>
        <p:spPr>
          <a:xfrm>
            <a:off x="581024" y="1363125"/>
            <a:ext cx="5128896" cy="5379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FFAFBEE3-A912-CFD8-7078-3D8D350947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50" t="2800" r="37833" b="18756"/>
          <a:stretch>
            <a:fillRect/>
          </a:stretch>
        </p:blipFill>
        <p:spPr>
          <a:xfrm>
            <a:off x="6585584" y="1363125"/>
            <a:ext cx="5128896" cy="537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1406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6" descr="image.png">
            <a:extLst>
              <a:ext uri="{FF2B5EF4-FFF2-40B4-BE49-F238E27FC236}">
                <a16:creationId xmlns:a16="http://schemas.microsoft.com/office/drawing/2014/main" xmlns="" id="{87E0C592-47D4-CD37-BDA6-75C48827F5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4;p16">
            <a:extLst>
              <a:ext uri="{FF2B5EF4-FFF2-40B4-BE49-F238E27FC236}">
                <a16:creationId xmlns:a16="http://schemas.microsoft.com/office/drawing/2014/main" xmlns="" id="{3A388232-E64D-34B4-EBC0-0AB3F3286C7D}"/>
              </a:ext>
            </a:extLst>
          </p:cNvPr>
          <p:cNvSpPr txBox="1"/>
          <p:nvPr/>
        </p:nvSpPr>
        <p:spPr>
          <a:xfrm>
            <a:off x="581025" y="581025"/>
            <a:ext cx="110301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MATLAB Diagrams</a:t>
            </a:r>
            <a:endParaRPr dirty="0"/>
          </a:p>
        </p:txBody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xmlns="" id="{9EF39470-A189-AEE3-19B7-6692B388D429}"/>
              </a:ext>
            </a:extLst>
          </p:cNvPr>
          <p:cNvSpPr/>
          <p:nvPr/>
        </p:nvSpPr>
        <p:spPr>
          <a:xfrm>
            <a:off x="581025" y="1228725"/>
            <a:ext cx="11030100" cy="1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7EC9CE1-11EA-EDFC-2638-B709BACC3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00" t="27539" r="6578" b="25302"/>
          <a:stretch>
            <a:fillRect/>
          </a:stretch>
        </p:blipFill>
        <p:spPr>
          <a:xfrm>
            <a:off x="121920" y="1739131"/>
            <a:ext cx="6167120" cy="44291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D6B58E-B1CE-57D8-9BF6-EE865AB7B5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084" t="27509" r="6083" b="23835"/>
          <a:stretch>
            <a:fillRect/>
          </a:stretch>
        </p:blipFill>
        <p:spPr>
          <a:xfrm>
            <a:off x="6512560" y="1739131"/>
            <a:ext cx="5455920" cy="44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740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14612"/>
            <a:ext cx="52768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4612"/>
            <a:ext cx="527685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000125" y="3005137"/>
            <a:ext cx="469058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Interference Rejection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00125" y="3500437"/>
            <a:ext cx="446722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Effectively eliminating low-frequency baseline drift while simultaneously rejecting strong high-frequency EMI transients and structured square wave harmonics.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53225" y="3005137"/>
            <a:ext cx="469058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Stability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753225" y="3500437"/>
            <a:ext cx="44672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highly stable analog operation without accidental oscillation, while providing continuous manual control for dynamic on-the-fly tuning.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6" y="581025"/>
            <a:ext cx="11029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Engineering Challenges</a:t>
            </a:r>
            <a:endParaRPr dirty="0"/>
          </a:p>
        </p:txBody>
      </p:sp>
      <p:sp>
        <p:nvSpPr>
          <p:cNvPr id="139" name="Google Shape;139;p17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33650"/>
            <a:ext cx="3422600" cy="28384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533650"/>
            <a:ext cx="3422600" cy="28384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8225" y="2533650"/>
            <a:ext cx="3422600" cy="28384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sp>
        <p:nvSpPr>
          <p:cNvPr id="148" name="Google Shape;148;p18"/>
          <p:cNvSpPr txBox="1"/>
          <p:nvPr/>
        </p:nvSpPr>
        <p:spPr>
          <a:xfrm>
            <a:off x="1830314" y="3714750"/>
            <a:ext cx="92402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76300" y="4210050"/>
            <a:ext cx="28320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 the pure 6 kHz target signal with high fidelity.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517966" y="3714750"/>
            <a:ext cx="115576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Suppress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79900" y="4210050"/>
            <a:ext cx="28320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Attenuate 600Hz drift, 18kHz square waves, and 55kHz noise.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331095" y="3714750"/>
            <a:ext cx="113686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83500" y="4210050"/>
            <a:ext cx="28320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manual tuning and variable amplification controls.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4125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1326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  <a:endParaRPr dirty="0"/>
          </a:p>
        </p:txBody>
      </p:sp>
      <p:sp>
        <p:nvSpPr>
          <p:cNvPr id="158" name="Google Shape;158;p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247</Words>
  <Application>Microsoft Office PowerPoint</Application>
  <PresentationFormat>Custom</PresentationFormat>
  <Paragraphs>42</Paragraphs>
  <Slides>15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ABC</cp:lastModifiedBy>
  <cp:revision>11</cp:revision>
  <dcterms:modified xsi:type="dcterms:W3CDTF">2026-03-06T06:04:31Z</dcterms:modified>
</cp:coreProperties>
</file>